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91" r:id="rId142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lineChart>
        <ns0:grouping val="standar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Narrative momentum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Context</ns0:v>
                </ns0:pt>
                <ns0:pt idx="1">
                  <ns0:v>Change</ns0:v>
                </ns0:pt>
                <ns0:pt idx="2">
                  <ns0:v>Cause</ns0:v>
                </ns0:pt>
                <ns0:pt idx="3">
                  <ns0:v>Choice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35</ns0:v>
                </ns0:pt>
                <ns0:pt idx="1">
                  <ns0:v>68</ns0:v>
                </ns0:pt>
                <ns0:pt idx="2">
                  <ns0:v>86</ns0:v>
                </ns0:pt>
                <ns0:pt idx="3">
                  <ns0:v>100</ns0:v>
                </ns0:pt>
              </ns0:numCache>
            </ns0:numRef>
          </ns0:val>
          <ns0:smooth val="0"/>
        </ns0:ser>
        <ns0:marker val="1"/>
        <ns0:smooth val="0"/>
        <ns0:axId val="2118791784"/>
        <ns0:axId val="2140495176"/>
      </ns0:lineChart>
      <ns0:catAx>
        <ns0:axId val="2118791784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40495176"/>
        <ns0:crosses val="autoZero"/>
        <ns0:auto val="1"/>
        <ns0:lblAlgn val="ctr"/>
        <ns0:lblOffset val="100"/>
        <ns0:noMultiLvlLbl val="0"/>
      </ns0:catAx>
      <ns0:valAx>
        <ns0:axId val="214049517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18791784"/>
        <ns0:crosses val="autoZero"/>
      </ns0:valAx>
    </ns0:plotArea>
    <ns0:plotVisOnly val="1"/>
    <ns0:dispBlanksAs val="gap"/>
    <ns0:showDLblsOverMax val="0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2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col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Audience attention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Orient</ns0:v>
                </ns0:pt>
                <ns0:pt idx="1">
                  <ns0:v>Reveal</ns0:v>
                </ns0:pt>
                <ns0:pt idx="2">
                  <ns0:v>Explain</ns0:v>
                </ns0:pt>
                <ns0:pt idx="3">
                  <ns0:v>Decide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42</ns0:v>
                </ns0:pt>
                <ns0:pt idx="1">
                  <ns0:v>76</ns0:v>
                </ns0:pt>
                <ns0:pt idx="2">
                  <ns0:v>88</ns0:v>
                </ns0:pt>
                <ns0:pt idx="3">
                  <ns0:v>100</ns0:v>
                </ns0:pt>
              </ns0:numCache>
            </ns0:numRef>
          </ns0:val>
        </ns0:ser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3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Authoring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Desktop</ns0:v>
                </ns0:pt>
                <ns0:pt idx="1">
                  <ns0:v>Server / Cloud</ns0:v>
                </ns0:pt>
                <ns0:pt idx="2">
                  <ns0:v>Public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100</ns0:v>
                </ns0:pt>
                <ns0:pt idx="1">
                  <ns0:v>35</ns0:v>
                </ns0:pt>
                <ns0:pt idx="2">
                  <ns0:v>55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Governed sharing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Desktop</ns0:v>
                </ns0:pt>
                <ns0:pt idx="1">
                  <ns0:v>Server / Cloud</ns0:v>
                </ns0:pt>
                <ns0:pt idx="2">
                  <ns0:v>Public</ns0:v>
                </ns0:pt>
              </ns0:strCache>
            </ns0:strRef>
          </ns0:cat>
          <ns0:val>
            <ns0:numRef>
              <ns0:f>Sheet1!$C$2:$C$4</ns0:f>
              <ns0:numCache>
                <ns0:formatCode>General</ns0:formatCode>
                <ns0:ptCount val="3"/>
                <ns0:pt idx="0">
                  <ns0:v>15</ns0:v>
                </ns0:pt>
                <ns0:pt idx="1">
                  <ns0:v>100</ns0:v>
                </ns0:pt>
                <ns0:pt idx="2">
                  <ns0:v>20</ns0:v>
                </ns0:pt>
              </ns0:numCache>
            </ns0:numRef>
          </ns0:val>
        </ns0:ser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legend>
      <ns0:legendPos val="b"/>
      <ns0:overlay val="0"/>
    </ns0:legend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4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roundedCorners val="0"/>
  <ns0:chart>
    <ns0:autoTitleDeleted val="1"/>
    <ns0:plotArea>
      <ns0:layout/>
      <ns0:doughnutChart>
        <ns0:varyColors val="1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Revenue share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Online</ns0:v>
                </ns0:pt>
                <ns0:pt idx="1">
                  <ns0:v>Retail</ns0:v>
                </ns0:pt>
                <ns0:pt idx="2">
                  <ns0:v>Partners</ns0:v>
                </ns0:pt>
                <ns0:pt idx="3">
                  <ns0:v>Other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46</ns0:v>
                </ns0:pt>
                <ns0:pt idx="1">
                  <ns0:v>31</ns0:v>
                </ns0:pt>
                <ns0:pt idx="2">
                  <ns0:v>17</ns0:v>
                </ns0:pt>
                <ns0:pt idx="3">
                  <ns0:v>6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1"/>
        </ns0:dLbls>
        <ns0:firstSliceAng val="0"/>
        <ns0:holeSize val="50"/>
      </ns0:doughnutChart>
    </ns0:plotArea>
    <ns0:legend>
      <ns0:legendPos val="b"/>
      <ns0:layout/>
      <ns0:overlay val="0"/>
    </ns0:legend>
    <ns0:plotVisOnly val="1"/>
    <ns0:dispBlanksAs val="gap"/>
    <ns0:showDLblsOverMax val="0"/>
  </ns0:chart>
  <ns0:txPr>
    <ns1:bodyPr/>
    <ns1:lstStyle/>
    <ns1:p>
      <ns1:pPr>
        <ns1:defRPr sz="1800"/>
      </ns1:pPr>
      <ns1:endParaRPr/>
    </ns1:p>
  </ns0:txPr>
  <ns0:externalData ns2:id="rId1">
    <ns0:autoUpdate val="0"/>
  </ns0:externalData>
</ns0:chartSpace>
</file>

<file path=ppt/charts/chart5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Late deliveries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West</ns0:v>
                </ns0:pt>
                <ns0:pt idx="1">
                  <ns0:v>Central</ns0:v>
                </ns0:pt>
                <ns0:pt idx="2">
                  <ns0:v>East</ns0:v>
                </ns0:pt>
                <ns0:pt idx="3">
                  <ns0:v>North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41</ns0:v>
                </ns0:pt>
                <ns0:pt idx="1">
                  <ns0:v>29</ns0:v>
                </ns0:pt>
                <ns0:pt idx="2">
                  <ns0:v>19</ns0:v>
                </ns0:pt>
                <ns0:pt idx="3">
                  <ns0:v>12</ns0:v>
                </ns0:pt>
              </ns0:numCache>
            </ns0:numRef>
          </ns0:val>
        </ns0:ser>
        <ns0:dLbls>
          <ns0:txPr>
            <ns1:bodyPr/>
            <ns1:lstStyle/>
            <ns1:p>
              <ns1:pPr>
                <ns1:defRPr sz="900">
                  <ns1:latin typeface="Arial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6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On-time delivery %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Central</ns0:v>
                </ns0:pt>
                <ns0:pt idx="1">
                  <ns0:v>East</ns0:v>
                </ns0:pt>
                <ns0:pt idx="2">
                  <ns0:v>North</ns0:v>
                </ns0:pt>
                <ns0:pt idx="3">
                  <ns0:v>West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94</ns0:v>
                </ns0:pt>
                <ns0:pt idx="1">
                  <ns0:v>91</ns0:v>
                </ns0:pt>
                <ns0:pt idx="2">
                  <ns0:v>88</ns0:v>
                </ns0:pt>
                <ns0:pt idx="3">
                  <ns0:v>82</ns0:v>
                </ns0:pt>
              </ns0:numCache>
            </ns0:numRef>
          </ns0:val>
        </ns0:ser>
        <ns0:dLbls>
          <ns0:txPr>
            <ns1:bodyPr/>
            <ns1:lstStyle/>
            <ns1:p>
              <ns1:pPr>
                <ns1:defRPr sz="900">
                  <ns1:latin typeface="Arial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7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stack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Tiled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Laptop</ns0:v>
                </ns0:pt>
                <ns0:pt idx="1">
                  <ns0:v>Tablet</ns0:v>
                </ns0:pt>
                <ns0:pt idx="2">
                  <ns0:v>Projector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82</ns0:v>
                </ns0:pt>
                <ns0:pt idx="1">
                  <ns0:v>90</ns0:v>
                </ns0:pt>
                <ns0:pt idx="2">
                  <ns0:v>94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Floating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Laptop</ns0:v>
                </ns0:pt>
                <ns0:pt idx="1">
                  <ns0:v>Tablet</ns0:v>
                </ns0:pt>
                <ns0:pt idx="2">
                  <ns0:v>Projector</ns0:v>
                </ns0:pt>
              </ns0:strCache>
            </ns0:strRef>
          </ns0:cat>
          <ns0:val>
            <ns0:numRef>
              <ns0:f>Sheet1!$C$2:$C$4</ns0:f>
              <ns0:numCache>
                <ns0:formatCode>General</ns0:formatCode>
                <ns0:ptCount val="3"/>
                <ns0:pt idx="0">
                  <ns0:v>18</ns0:v>
                </ns0:pt>
                <ns0:pt idx="1">
                  <ns0:v>10</ns0:v>
                </ns0:pt>
                <ns0:pt idx="2">
                  <ns0:v>6</ns0:v>
                </ns0:pt>
              </ns0:numCache>
            </ns0:numRef>
          </ns0:val>
        </ns0:ser>
        <ns0:overlap val="100"/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legend>
      <ns0:legendPos val="b"/>
      <ns0:overlay val="0"/>
    </ns0:legend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8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Useful action score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Detail</ns0:v>
                </ns0:pt>
                <ns0:pt idx="1">
                  <ns0:v>Definition</ns0:v>
                </ns0:pt>
                <ns0:pt idx="2">
                  <ns0:v>Next view</ns0:v>
                </ns0:pt>
                <ns0:pt idx="3">
                  <ns0:v>External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92</ns0:v>
                </ns0:pt>
                <ns0:pt idx="1">
                  <ns0:v>84</ns0:v>
                </ns0:pt>
                <ns0:pt idx="2">
                  <ns0:v>78</ns0:v>
                </ns0:pt>
                <ns0:pt idx="3">
                  <ns0:v>53</ns0:v>
                </ns0:pt>
              </ns0:numCache>
            </ns0:numRef>
          </ns0:val>
        </ns0:ser>
        <ns0:dLbls>
          <ns0:txPr>
            <ns1:bodyPr/>
            <ns1:lstStyle/>
            <ns1:p>
              <ns1:pPr>
                <ns1:defRPr sz="900">
                  <ns1:latin typeface="Arial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9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lineChart>
        <ns0:grouping val="standar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Actual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Sheet1!$A$2:$A$7</ns0:f>
              <ns0:strCache>
                <ns0:ptCount val="6"/>
                <ns0:pt idx="0">
                  <ns0:v>Jan</ns0:v>
                </ns0:pt>
                <ns0:pt idx="1">
                  <ns0:v>Feb</ns0:v>
                </ns0:pt>
                <ns0:pt idx="2">
                  <ns0:v>Mar</ns0:v>
                </ns0:pt>
                <ns0:pt idx="3">
                  <ns0:v>Apr</ns0:v>
                </ns0:pt>
                <ns0:pt idx="4">
                  <ns0:v>May</ns0:v>
                </ns0:pt>
                <ns0:pt idx="5">
                  <ns0:v>Jun</ns0:v>
                </ns0:pt>
              </ns0:strCache>
            </ns0:strRef>
          </ns0:cat>
          <ns0:val>
            <ns0:numRef>
              <ns0:f>Sheet1!$B$2:$B$7</ns0:f>
              <ns0:numCache>
                <ns0:formatCode>General</ns0:formatCode>
                <ns0:ptCount val="6"/>
                <ns0:pt idx="0">
                  <ns0:v>92</ns0:v>
                </ns0:pt>
                <ns0:pt idx="1">
                  <ns0:v>96</ns0:v>
                </ns0:pt>
                <ns0:pt idx="2">
                  <ns0:v>94</ns0:v>
                </ns0:pt>
                <ns0:pt idx="3">
                  <ns0:v>105</ns0:v>
                </ns0:pt>
                <ns0:pt idx="4">
                  <ns0:v>110</ns0:v>
                </ns0:pt>
                <ns0:pt idx="5">
                  <ns0:v>118</ns0:v>
                </ns0:pt>
              </ns0:numCache>
            </ns0:numRef>
          </ns0:val>
          <ns0:smooth val="0"/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Target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Sheet1!$A$2:$A$7</ns0:f>
              <ns0:strCache>
                <ns0:ptCount val="6"/>
                <ns0:pt idx="0">
                  <ns0:v>Jan</ns0:v>
                </ns0:pt>
                <ns0:pt idx="1">
                  <ns0:v>Feb</ns0:v>
                </ns0:pt>
                <ns0:pt idx="2">
                  <ns0:v>Mar</ns0:v>
                </ns0:pt>
                <ns0:pt idx="3">
                  <ns0:v>Apr</ns0:v>
                </ns0:pt>
                <ns0:pt idx="4">
                  <ns0:v>May</ns0:v>
                </ns0:pt>
                <ns0:pt idx="5">
                  <ns0:v>Jun</ns0:v>
                </ns0:pt>
              </ns0:strCache>
            </ns0:strRef>
          </ns0:cat>
          <ns0:val>
            <ns0:numRef>
              <ns0:f>Sheet1!$C$2:$C$7</ns0:f>
              <ns0:numCache>
                <ns0:formatCode>General</ns0:formatCode>
                <ns0:ptCount val="6"/>
                <ns0:pt idx="0">
                  <ns0:v>84</ns0:v>
                </ns0:pt>
                <ns0:pt idx="1">
                  <ns0:v>86</ns0:v>
                </ns0:pt>
                <ns0:pt idx="2">
                  <ns0:v>88</ns0:v>
                </ns0:pt>
                <ns0:pt idx="3">
                  <ns0:v>90</ns0:v>
                </ns0:pt>
                <ns0:pt idx="4">
                  <ns0:v>94</ns0:v>
                </ns0:pt>
                <ns0:pt idx="5">
                  <ns0:v>98</ns0:v>
                </ns0:pt>
              </ns0:numCache>
            </ns0:numRef>
          </ns0:val>
          <ns0:smooth val="0"/>
        </ns0:ser>
        <ns0:marker val="1"/>
        <ns0:smooth val="0"/>
        <ns0:axId val="2118791784"/>
        <ns0:axId val="2140495176"/>
      </ns0:lineChart>
      <ns0:catAx>
        <ns0:axId val="2118791784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40495176"/>
        <ns0:crosses val="autoZero"/>
        <ns0:auto val="1"/>
        <ns0:lblAlgn val="ctr"/>
        <ns0:lblOffset val="100"/>
        <ns0:noMultiLvlLbl val="0"/>
      </ns0:catAx>
      <ns0:valAx>
        <ns0:axId val="214049517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18791784"/>
        <ns0:crosses val="autoZero"/>
      </ns0:valAx>
    </ns0:plotArea>
    <ns0:legend>
      <ns0:legendPos val="b"/>
      <ns0:layout/>
      <ns0:overlay val="0"/>
    </ns0:legend>
    <ns0:plotVisOnly val="1"/>
    <ns0:dispBlanksAs val="gap"/>
    <ns0:showDLblsOverMax val="0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0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lineChart>
        <ns0:grouping val="standar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Cycle time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Sheet1!$A$2:$A$7</ns0:f>
              <ns0:strCache>
                <ns0:ptCount val="6"/>
                <ns0:pt idx="0">
                  <ns0:v>Jan</ns0:v>
                </ns0:pt>
                <ns0:pt idx="1">
                  <ns0:v>Feb</ns0:v>
                </ns0:pt>
                <ns0:pt idx="2">
                  <ns0:v>Mar</ns0:v>
                </ns0:pt>
                <ns0:pt idx="3">
                  <ns0:v>Apr</ns0:v>
                </ns0:pt>
                <ns0:pt idx="4">
                  <ns0:v>May</ns0:v>
                </ns0:pt>
                <ns0:pt idx="5">
                  <ns0:v>Jun</ns0:v>
                </ns0:pt>
              </ns0:strCache>
            </ns0:strRef>
          </ns0:cat>
          <ns0:val>
            <ns0:numRef>
              <ns0:f>Sheet1!$B$2:$B$7</ns0:f>
              <ns0:numCache>
                <ns0:formatCode>General</ns0:formatCode>
                <ns0:ptCount val="6"/>
                <ns0:pt idx="0">
                  <ns0:v>86</ns0:v>
                </ns0:pt>
                <ns0:pt idx="1">
                  <ns0:v>82</ns0:v>
                </ns0:pt>
                <ns0:pt idx="2">
                  <ns0:v>79</ns0:v>
                </ns0:pt>
                <ns0:pt idx="3">
                  <ns0:v>72</ns0:v>
                </ns0:pt>
                <ns0:pt idx="4">
                  <ns0:v>67</ns0:v>
                </ns0:pt>
                <ns0:pt idx="5">
                  <ns0:v>61</ns0:v>
                </ns0:pt>
              </ns0:numCache>
            </ns0:numRef>
          </ns0:val>
          <ns0:smooth val="0"/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Service target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Sheet1!$A$2:$A$7</ns0:f>
              <ns0:strCache>
                <ns0:ptCount val="6"/>
                <ns0:pt idx="0">
                  <ns0:v>Jan</ns0:v>
                </ns0:pt>
                <ns0:pt idx="1">
                  <ns0:v>Feb</ns0:v>
                </ns0:pt>
                <ns0:pt idx="2">
                  <ns0:v>Mar</ns0:v>
                </ns0:pt>
                <ns0:pt idx="3">
                  <ns0:v>Apr</ns0:v>
                </ns0:pt>
                <ns0:pt idx="4">
                  <ns0:v>May</ns0:v>
                </ns0:pt>
                <ns0:pt idx="5">
                  <ns0:v>Jun</ns0:v>
                </ns0:pt>
              </ns0:strCache>
            </ns0:strRef>
          </ns0:cat>
          <ns0:val>
            <ns0:numRef>
              <ns0:f>Sheet1!$C$2:$C$7</ns0:f>
              <ns0:numCache>
                <ns0:formatCode>General</ns0:formatCode>
                <ns0:ptCount val="6"/>
                <ns0:pt idx="0">
                  <ns0:v>75</ns0:v>
                </ns0:pt>
                <ns0:pt idx="1">
                  <ns0:v>75</ns0:v>
                </ns0:pt>
                <ns0:pt idx="2">
                  <ns0:v>75</ns0:v>
                </ns0:pt>
                <ns0:pt idx="3">
                  <ns0:v>75</ns0:v>
                </ns0:pt>
                <ns0:pt idx="4">
                  <ns0:v>75</ns0:v>
                </ns0:pt>
                <ns0:pt idx="5">
                  <ns0:v>75</ns0:v>
                </ns0:pt>
              </ns0:numCache>
            </ns0:numRef>
          </ns0:val>
          <ns0:smooth val="0"/>
        </ns0:ser>
        <ns0:marker val="1"/>
        <ns0:smooth val="0"/>
        <ns0:axId val="2118791784"/>
        <ns0:axId val="2140495176"/>
      </ns0:lineChart>
      <ns0:catAx>
        <ns0:axId val="2118791784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40495176"/>
        <ns0:crosses val="autoZero"/>
        <ns0:auto val="1"/>
        <ns0:lblAlgn val="ctr"/>
        <ns0:lblOffset val="100"/>
        <ns0:noMultiLvlLbl val="0"/>
      </ns0:catAx>
      <ns0:valAx>
        <ns0:axId val="214049517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18791784"/>
        <ns0:crosses val="autoZero"/>
      </ns0:valAx>
    </ns0:plotArea>
    <ns0:legend>
      <ns0:legendPos val="b"/>
      <ns0:layout/>
      <ns0:overlay val="0"/>
    </ns0:legend>
    <ns0:plotVisOnly val="1"/>
    <ns0:dispBlanksAs val="gap"/>
    <ns0:showDLblsOverMax val="0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Evidence confidence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Facts</ns0:v>
                </ns0:pt>
                <ns0:pt idx="1">
                  <ns0:v>Interpretation</ns0:v>
                </ns0:pt>
                <ns0:pt idx="2">
                  <ns0:v>Judgement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100</ns0:v>
                </ns0:pt>
                <ns0:pt idx="1">
                  <ns0:v>74</ns0:v>
                </ns0:pt>
                <ns0:pt idx="2">
                  <ns0:v>52</ns0:v>
                </ns0:pt>
              </ns0:numCache>
            </ns0:numRef>
          </ns0:val>
        </ns0:ser>
        <ns0:dLbls>
          <ns0:txPr>
            <ns1:bodyPr/>
            <ns1:lstStyle/>
            <ns1:p>
              <ns1:pPr>
                <ns1:defRPr sz="900">
                  <ns1:latin typeface="Arial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1"/>
        </ns0:dLbls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2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col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Open issues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Draft 1</ns0:v>
                </ns0:pt>
                <ns0:pt idx="1">
                  <ns0:v>SME review</ns0:v>
                </ns0:pt>
                <ns0:pt idx="2">
                  <ns0:v>Draft 2</ns0:v>
                </ns0:pt>
                <ns0:pt idx="3">
                  <ns0:v>Release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14</ns0:v>
                </ns0:pt>
                <ns0:pt idx="1">
                  <ns0:v>9</ns0:v>
                </ns0:pt>
                <ns0:pt idx="2">
                  <ns0:v>3</ns0:v>
                </ns0:pt>
                <ns0:pt idx="3">
                  <ns0:v>0</ns0:v>
                </ns0:pt>
              </ns0:numCache>
            </ns0:numRef>
          </ns0:val>
        </ns0:ser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3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bar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Selected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Beauty</ns0:v>
                </ns0:pt>
                <ns0:pt idx="1">
                  <ns0:v>Home</ns0:v>
                </ns0:pt>
                <ns0:pt idx="2">
                  <ns0:v>Electronics</ns0:v>
                </ns0:pt>
                <ns0:pt idx="3">
                  <ns0:v>Lifestyle</ns0:v>
                </ns0:pt>
              </ns0:strCache>
            </ns0:strRef>
          </ns0:cat>
          <ns0:val>
            <ns0:numRef>
              <ns0:f>Sheet1!$B$2:$B$5</ns0:f>
              <ns0:numCache>
                <ns0:formatCode>General</ns0:formatCode>
                <ns0:ptCount val="4"/>
                <ns0:pt idx="0">
                  <ns0:v>104</ns0:v>
                </ns0:pt>
                <ns0:pt idx="1">
                  <ns0:v>71</ns0:v>
                </ns0:pt>
                <ns0:pt idx="2">
                  <ns0:v>126</ns0:v>
                </ns0:pt>
                <ns0:pt idx="3">
                  <ns0:v>95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Base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Sheet1!$A$2:$A$5</ns0:f>
              <ns0:strCache>
                <ns0:ptCount val="4"/>
                <ns0:pt idx="0">
                  <ns0:v>Beauty</ns0:v>
                </ns0:pt>
                <ns0:pt idx="1">
                  <ns0:v>Home</ns0:v>
                </ns0:pt>
                <ns0:pt idx="2">
                  <ns0:v>Electronics</ns0:v>
                </ns0:pt>
                <ns0:pt idx="3">
                  <ns0:v>Lifestyle</ns0:v>
                </ns0:pt>
              </ns0:strCache>
            </ns0:strRef>
          </ns0:cat>
          <ns0:val>
            <ns0:numRef>
              <ns0:f>Sheet1!$C$2:$C$5</ns0:f>
              <ns0:numCache>
                <ns0:formatCode>General</ns0:formatCode>
                <ns0:ptCount val="4"/>
                <ns0:pt idx="0">
                  <ns0:v>92</ns0:v>
                </ns0:pt>
                <ns0:pt idx="1">
                  <ns0:v>78</ns0:v>
                </ns0:pt>
                <ns0:pt idx="2">
                  <ns0:v>112</ns0:v>
                </ns0:pt>
                <ns0:pt idx="3">
                  <ns0:v>84</ns0:v>
                </ns0:pt>
              </ns0:numCache>
            </ns0:numRef>
          </ns0:val>
        </ns0:ser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legend>
      <ns0:legendPos val="b"/>
      <ns0:overlay val="0"/>
    </ns0:legend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4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lineChart>
        <ns0:grouping val="standard"/>
        <ns0:varyColors val="0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Profit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Sheet1!$A$2:$A$6</ns0:f>
              <ns0:strCache>
                <ns0:ptCount val="5"/>
                <ns0:pt idx="0">
                  <ns0:v>-10%</ns0:v>
                </ns0:pt>
                <ns0:pt idx="1">
                  <ns0:v>-5%</ns0:v>
                </ns0:pt>
                <ns0:pt idx="2">
                  <ns0:v>Base</ns0:v>
                </ns0:pt>
                <ns0:pt idx="3">
                  <ns0:v>+5%</ns0:v>
                </ns0:pt>
                <ns0:pt idx="4">
                  <ns0:v>+10%</ns0:v>
                </ns0:pt>
              </ns0:strCache>
            </ns0:strRef>
          </ns0:cat>
          <ns0:val>
            <ns0:numRef>
              <ns0:f>Sheet1!$B$2:$B$6</ns0:f>
              <ns0:numCache>
                <ns0:formatCode>General</ns0:formatCode>
                <ns0:ptCount val="5"/>
                <ns0:pt idx="0">
                  <ns0:v>54</ns0:v>
                </ns0:pt>
                <ns0:pt idx="1">
                  <ns0:v>68</ns0:v>
                </ns0:pt>
                <ns0:pt idx="2">
                  <ns0:v>81</ns0:v>
                </ns0:pt>
                <ns0:pt idx="3">
                  <ns0:v>91</ns0:v>
                </ns0:pt>
                <ns0:pt idx="4">
                  <ns0:v>96</ns0:v>
                </ns0:pt>
              </ns0:numCache>
            </ns0:numRef>
          </ns0:val>
          <ns0:smooth val="0"/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Revenue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Sheet1!$A$2:$A$6</ns0:f>
              <ns0:strCache>
                <ns0:ptCount val="5"/>
                <ns0:pt idx="0">
                  <ns0:v>-10%</ns0:v>
                </ns0:pt>
                <ns0:pt idx="1">
                  <ns0:v>-5%</ns0:v>
                </ns0:pt>
                <ns0:pt idx="2">
                  <ns0:v>Base</ns0:v>
                </ns0:pt>
                <ns0:pt idx="3">
                  <ns0:v>+5%</ns0:v>
                </ns0:pt>
                <ns0:pt idx="4">
                  <ns0:v>+10%</ns0:v>
                </ns0:pt>
              </ns0:strCache>
            </ns0:strRef>
          </ns0:cat>
          <ns0:val>
            <ns0:numRef>
              <ns0:f>Sheet1!$C$2:$C$6</ns0:f>
              <ns0:numCache>
                <ns0:formatCode>General</ns0:formatCode>
                <ns0:ptCount val="5"/>
                <ns0:pt idx="0">
                  <ns0:v>72</ns0:v>
                </ns0:pt>
                <ns0:pt idx="1">
                  <ns0:v>78</ns0:v>
                </ns0:pt>
                <ns0:pt idx="2">
                  <ns0:v>84</ns0:v>
                </ns0:pt>
                <ns0:pt idx="3">
                  <ns0:v>91</ns0:v>
                </ns0:pt>
                <ns0:pt idx="4">
                  <ns0:v>98</ns0:v>
                </ns0:pt>
              </ns0:numCache>
            </ns0:numRef>
          </ns0:val>
          <ns0:smooth val="0"/>
        </ns0:ser>
        <ns0:marker val="1"/>
        <ns0:smooth val="0"/>
        <ns0:axId val="2118791784"/>
        <ns0:axId val="2140495176"/>
      </ns0:lineChart>
      <ns0:catAx>
        <ns0:axId val="2118791784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40495176"/>
        <ns0:crosses val="autoZero"/>
        <ns0:auto val="1"/>
        <ns0:lblAlgn val="ctr"/>
        <ns0:lblOffset val="100"/>
        <ns0:noMultiLvlLbl val="0"/>
      </ns0:catAx>
      <ns0:valAx>
        <ns0:axId val="2140495176"/>
        <ns0:scaling/>
        <ns0:delete val="0"/>
        <ns0:axPos val="l"/>
        <ns0:majorGridlines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18791784"/>
        <ns0:crosses val="autoZero"/>
      </ns0:valAx>
    </ns0:plotArea>
    <ns0:legend>
      <ns0:legendPos val="b"/>
      <ns0:layout/>
      <ns0:overlay val="0"/>
    </ns0:legend>
    <ns0:plotVisOnly val="1"/>
    <ns0:dispBlanksAs val="gap"/>
    <ns0:showDLblsOverMax val="0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charts/chart15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1"/>
    <ns0:plotArea>
      <ns0:barChart>
        <ns0:barDir val="col"/>
        <ns0:grouping val="stack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Worksheets</ns0:v>
                </ns0:pt>
              </ns0:strCache>
            </ns0:strRef>
          </ns0:tx>
          <ns0:spPr>
            <ns1:solidFill>
              <ns1:srgbClr val="1F6FEB"/>
            </ns1:solidFill>
            <ns1:ln>
              <ns1:solidFill>
                <ns1:srgbClr val="1F6FEB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Explore</ns0:v>
                </ns0:pt>
                <ns0:pt idx="1">
                  <ns0:v>Explain</ns0:v>
                </ns0:pt>
                <ns0:pt idx="2">
                  <ns0:v>Decide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55</ns0:v>
                </ns0:pt>
                <ns0:pt idx="1">
                  <ns0:v>30</ns0:v>
                </ns0:pt>
                <ns0:pt idx="2">
                  <ns0:v>15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Dashboard</ns0:v>
                </ns0:pt>
              </ns0:strCache>
            </ns0:strRef>
          </ns0:tx>
          <ns0:spPr>
            <ns1:solidFill>
              <ns1:srgbClr val="10B981"/>
            </ns1:solidFill>
            <ns1:ln>
              <ns1:solidFill>
                <ns1:srgbClr val="10B981"/>
              </ns1:solidFill>
            </ns1:ln>
          </ns0:spPr>
          <ns0:cat>
            <ns0:strRef>
              <ns0:f>Sheet1!$A$2:$A$4</ns0:f>
              <ns0:strCache>
                <ns0:ptCount val="3"/>
                <ns0:pt idx="0">
                  <ns0:v>Explore</ns0:v>
                </ns0:pt>
                <ns0:pt idx="1">
                  <ns0:v>Explain</ns0:v>
                </ns0:pt>
                <ns0:pt idx="2">
                  <ns0:v>Decide</ns0:v>
                </ns0:pt>
              </ns0:strCache>
            </ns0:strRef>
          </ns0:cat>
          <ns0:val>
            <ns0:numRef>
              <ns0:f>Sheet1!$C$2:$C$4</ns0:f>
              <ns0:numCache>
                <ns0:formatCode>General</ns0:formatCode>
                <ns0:ptCount val="3"/>
                <ns0:pt idx="0">
                  <ns0:v>25</ns0:v>
                </ns0:pt>
                <ns0:pt idx="1">
                  <ns0:v>45</ns0:v>
                </ns0:pt>
                <ns0:pt idx="2">
                  <ns0:v>35</ns0:v>
                </ns0:pt>
              </ns0:numCache>
            </ns0:numRef>
          </ns0:val>
        </ns0:ser>
        <ns0:ser>
          <ns0:idx val="2"/>
          <ns0:order val="2"/>
          <ns0:tx>
            <ns0:strRef>
              <ns0:f>Sheet1!$D$1</ns0:f>
              <ns0:strCache>
                <ns0:ptCount val="1"/>
                <ns0:pt idx="0">
                  <ns0:v>Story</ns0:v>
                </ns0:pt>
              </ns0:strCache>
            </ns0:strRef>
          </ns0:tx>
          <ns0:cat>
            <ns0:strRef>
              <ns0:f>Sheet1!$A$2:$A$4</ns0:f>
              <ns0:strCache>
                <ns0:ptCount val="3"/>
                <ns0:pt idx="0">
                  <ns0:v>Explore</ns0:v>
                </ns0:pt>
                <ns0:pt idx="1">
                  <ns0:v>Explain</ns0:v>
                </ns0:pt>
                <ns0:pt idx="2">
                  <ns0:v>Decide</ns0:v>
                </ns0:pt>
              </ns0:strCache>
            </ns0:strRef>
          </ns0:cat>
          <ns0:val>
            <ns0:numRef>
              <ns0:f>Sheet1!$D$2:$D$4</ns0:f>
              <ns0:numCache>
                <ns0:formatCode>General</ns0:formatCode>
                <ns0:ptCount val="3"/>
                <ns0:pt idx="0">
                  <ns0:v>20</ns0:v>
                </ns0:pt>
                <ns0:pt idx="1">
                  <ns0:v>25</ns0:v>
                </ns0:pt>
                <ns0:pt idx="2">
                  <ns0:v>50</ns0:v>
                </ns0:pt>
              </ns0:numCache>
            </ns0:numRef>
          </ns0:val>
        </ns0:ser>
        <ns0:overlap val="100"/>
        <ns0:axId val="2226939960"/>
        <ns0:axId val="2180972856"/>
      </ns0:barChart>
      <ns0:catAx>
        <ns0:axId val="2226939960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180972856"/>
        <ns0:crosses val="autoZero"/>
        <ns0:auto val="1"/>
        <ns0:lblAlgn val="ctr"/>
        <ns0:lblOffset val="100"/>
        <ns0:noMultiLvlLbl val="0"/>
      </ns0:catAx>
      <ns0:valAx>
        <ns0:axId val="2180972856"/>
        <ns0:scaling/>
        <ns0:delete val="0"/>
        <ns0:axPos val="l"/>
        <ns0:majorTickMark val="out"/>
        <ns0:minorTickMark val="none"/>
        <ns0:tickLblPos val="nextTo"/>
        <ns0:txPr>
          <ns1:bodyPr/>
          <ns1:lstStyle/>
          <ns1:p>
            <ns1:pPr>
              <ns1:defRPr sz="900">
                <ns1:latin typeface="Arial"/>
              </ns1:defRPr>
            </ns1:pPr>
          </ns1:p>
        </ns0:txPr>
        <ns0:crossAx val="2226939960"/>
        <ns0:crosses val="autoZero"/>
      </ns0:valAx>
    </ns0:plotArea>
    <ns0:legend>
      <ns0:legendPos val="b"/>
      <ns0:overlay val="0"/>
    </ns0:legend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s.tertiaryinfotech.com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0505550-Data-Storytelling-with-Tablea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28800"/>
            <a:ext cx="562356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5577840" cy="1417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Data Storytelling with Tableau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767328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539496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Course Code: TGS-2020505550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Data Storytelling · ICT-DIT-4006-1.1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5394960" cy="53035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79592"/>
            <a:ext cx="539496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v17.0 · 15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18504"/>
            <a:ext cx="54864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AM and 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SSG digital attendance for every training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the separate assessment attendance before the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at least 75%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Principal Trainer and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science, Tableau, visual analytics and decision storytelling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PhD in Operations Research · 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University, IBM Data Science and industry analytics training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Founder of DataFrens.sg open-source data community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organisation and stakeholder decisions you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Tableau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New user, workbook author, dashboard consumer or publisher.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story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recurring communication or insight problem.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want your audience to decide or do differently.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supplied synthetic workbooks.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often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clear workbook versions and packaged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Learner Guide for detailed procedures.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9:00–10:30 · Story strategy and Tableau workflow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10:40–12:30 · Labs 1–2: audience and narrative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1:15–3:10 · Visual insight and chart choice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3:20–6:00 · Labs 3–5: trend, map and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9:00–10:30 · Dashboards, stories and presentation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10:40–12:30 · Labs 6–8: story and SME review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1:15–3:20 · Calculations, parameters and actions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3:30–6:00 · WA and PP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Utilise Tableau for data visualisation.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trends and patterns from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dashboards and stories for data storytelling.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 stories to stakeholders and review them with subject-matter experts.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interactive visualisations for data storytelling.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DATA STORYTELLING · ICT-DIT-4006-1.1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data visualisation tools and 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Methods to portray patterns, trends and correlations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Dashboard development process and techniques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Features of data displays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K5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Strategic visualisation and mapping techniques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A1–A6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 fit, judgement, dashboards, stakeholder review, interactive UX and SME alignment.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or sharing during either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unrelated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your own formulas, output and interpretation.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photos, recording or verbatim copying.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Re-assessment and appeal arrangements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(WA/SAQ)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open-ended questions, 60 minutes, open 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connected Tableau tasks, 90 minutes, open 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Competent (C) or Not Yet Competent (NYC).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minimum of 75% attendance and a Competent assessment outcome are required.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Browse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Academy practice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Search current data and analytics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Choose a relevant practice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Rehearse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Work under timed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Answer in your own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review to identify gaps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Revisit the mapped topic and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Practise the same reasoning in Tableau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copy assessment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99632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1F6FEB"/>
                </a:solidFill>
                <a:latin typeface="Arial"/>
                <a:hlinkClick r:id="rId2"/>
              </a:rPr>
              <a:t>https://exams.tertiaryinfotech.com/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Git to clone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numbered lab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Start with Excel + the TWB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Extract the full folder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packaged TWBX sample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synthetic data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Preserve the source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LG for detailed procedures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99632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https://github.com/tertiarycourses/TGS-2020505550-Data-Storytelling-with-Tableau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Select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Download learner slides and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Save beside your lab folders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99632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Storytelling Using Tableau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Story purpose · audience · evidence · storyboard · Tableau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Storytelling Using Tableau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Story purpose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 a decision, evidence, explanation and call to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Match depth, vocabulary and interaction to stakeholder needs and data literacy.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Story arc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Orient the audience, reveal the change, explain the driver and land the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Storyboard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Sketch the sequence before building worksheets and dashboards.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Tableau workflow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Connect, explore, build views, assemble dashboards, create story points and share.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Tool fit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Tableau when governed visual exploration and interactive communication are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is created at every business moment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Transactions: Orders, payments, returns and service events reveal operational behaviour.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Interactions: Clicks, searches, campaigns and conversations reveal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Operations: Inventory, delivery, staffing and quality measures reveal constraints.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Time, location, segment and definitions determine what a number means.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visualise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Reduce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Position, length and colour help the eye find material differences quickly.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Expose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chart can reveal trend, cluster, gap and outlier that a table conceals.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 dialogue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shared view lets stakeholders ask better questions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visual is not yet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Visual — Shows evidence and relationships.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Narrative — Explains what changed, why it matters and what happens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 — Defines scope, comparison, time and stakeholder relevance.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Decision — Names the action, owner, trigger and guardrail.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Elements of data storytelling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Relevant, trustworthy evidence at the right grain.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perceptually effective display matched to the question.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Narrative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coherent sequence that directs attention and creates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Needs, literacy, incentives and likely objections.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story spine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Where are we and what decision is due?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material pattern or exception occurred?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Driver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evidence best explains the change?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should happen, who owns it and how will success be measured?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Know your audience before choosing a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Executive: Lead with decision, impact, confidence and trade-off.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Manager: Show drivers, segments, thresholds and accountable next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Analyst: Expose definitions, grain, filters, assumptions and diagnostic detail.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 audience: Use plain language, transparent sourcing and accessible design.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Finding the story in your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moved, accelerated, reversed or stayed unexpectedly flat?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Difference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Which category, location or segment diverges from peers?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Relationship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Which measures move together, and what alternative explanations remain?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Direct attention without distorting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Title — State the takeaway, not the chart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Contrast — Use one accent colour for the message and mute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Annotation — Label the evidence where the reader needs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Sequence — Reveal the decisive comparison before adding supporting detail.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Develop a credible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Claim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precise statement that can be tested against the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marks, values and comparisons that support the claim.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Why the evidence implies the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Qualification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uncertainty, limitation or condition that constrains the conclusion.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Storyboard before opening Tableau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Decision question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sentence naming the owner and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Audience journey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must the audience understand first, next and last?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plan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worksheet or dashboard supports each beat?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Exit point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explicit action should follow the final point?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story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over time: Establish baseline, reveal shift, explain inflection, project implication.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Drill down: Start broad, isolate segment, inspect driver, identify record-level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Zoom out: Begin with a local event, reveal system pattern and strategic consequence.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Contrast: Compare expected versus actual, peer versus peer, or before versus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Engage the audience through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Allow relevant filters while preserving the main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Anticipate likely follow-ups and prepare supporting 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Make it obvious how to return to the intended starting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Drive a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Action — Recommend a specific intervention rather than merely describe a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 — Name who decides and who executes.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Trigger — Define the measurable condition that starts or stops the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Guardrail — Protect against downside, bias or unintended impact.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Tableau authoring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Connect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the source and validate data types and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diagnostic worksheets and test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Assemble dashboards with hierarchy and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Narrate and share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story points, present, publish and gather review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A1 · 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Tableau products and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Tableau Desktop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authoring and local workbook development.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Tableau Public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Free public publishing; never use confidential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Tableau Cloud / Server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Governed collaboration, permissions, refresh and web consumption.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Tool choice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Tableau when visual exploration and interactive communication materially aid the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Frame a Retail Performance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Act as an analyst for Lion City Retail and turn a raw branch-performance request into a decision-focused Tableau story brief.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validated Tableau data connection, audience brief, story objective and three-point storyboard.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Storyboard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Frame a Retail Performance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reviewer can state the audience, decision, evidence grain and three-point narrative without opening Tableau.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Campaign Insight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Evaluate a multi-channel skincare launch and structure a concise Tableau narrative for a marketing director.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Three worksheets and a story outline linking reach, conversion and profitable customer segments.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Campaign Insight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narrative identifies one channel to scale, one audience to protect and one risk or limitation to monitor.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Storytelling Using Tableau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Story purpose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A1 · K1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Drawing Insights from Visualisation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Chart selection · perception · patterns · trends · comparisons ·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Drawing Insights from 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 first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 a chart from the analytical question, not from visual novelty.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Comparison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position and length to make category differences easy to judge.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Trend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time on a continuous axis and preserve meaningful baselines and intervals.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scatterplots to inspect association, clusters and unusual observations.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Composition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Show part-to-whole only when the total and categories are stable and meaningful.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Annotation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Direct attention to the evidence without hiding context or uncertainty.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Choose the chart from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Compare: Bar or dot plot.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Trend: Line or area chart with a genuine time axis.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Relationship: Scatterplot with careful use of size and colour.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Distribution / composition: Histogram, box plot, treemap or a constrained part-to-whole 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Visual perception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Most precise for common-scale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Strong for bars when a zero baseline is meaningful.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Angle and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Harder to compare; use sparingly and label important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Bar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— Compare values across discrete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 — Sort by value unless natural sequence or time must be preserved.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— Start quantitative bars at zero to protect length comparison.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Density — Limit categories or use filters/small multiples.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Line and area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change over ordered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Granularity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day, week, month or quarter to match the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Multiple 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Direct-label or strongly distinguish a small number of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Area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when magnitude or cumulative contribution matters, not merely decoration.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Part-to-whole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Pie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Reserve for few stable categories with a meaningful total.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Stacked bar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Useful for total plus composition; difficult for interior-segment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100% stacked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Compares composition but removes absolute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Alternative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sorted bars or a highlight table when accurate comparison matters.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Scatterplots and bubbles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X and Y: Two quantitative measures reveal association and clusters.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Size: A third measure can add context but is judged imprecisely.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Colour: Use a small number of meaningful categories.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Caution: Correlation does not establish cause, direction or mechanism.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Heatmaps and highlight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Scan a two-dimensional matrix for intensity and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Choose sequential or diverging colour around a meaningful midpoint.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Add text where exact values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Treemaps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— Explore hierarchical part-to-whole where screen space is constrained.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Strength — Shows dominant blocks and broad composition.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Limitation — Similar areas and positions are difficult to compare precisely.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Alternative — Use a sorted bar when ranking is the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 colour to carry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Categorical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Distinct hues for separate groups; keep the palette small.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Sequential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Light-to-dark for ordered magnitude.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Diverging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Two directions around a meaningful centre such as target or zero.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Semantic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Reserve red/amber/green only when status definitions are explicit.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Remove visual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Gridlines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only those needed to read the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Borders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whitespace and alignment before boxes.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Legends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Direct-label when it reduces eye travel.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Decoration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3D, shadows and pictograms that alter perceived magnitude.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Protect the baseline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Bars: A truncated axis exaggerates length differences.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Lines: A non-zero baseline may be appropriate, but show the scale clearly.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Dual axis: Synchronise only when the relationship is valid and units remain obvious.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scale: Use only when the audience understands multiplicative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Identify trends and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Upward, downward, flat or reversing.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Seasonality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Repeated structure at a fixed interval.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Change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visible shift in level, slope or variability.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Treat outliers as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— Check source, unit, duplication and missingness.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Contextualise — Compare the observation with peers and its own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— Seek operational or domain evidence before naming a cause.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Decide — Retain, exclude or correct only with a documented rationale.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Show uncertainty and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Forecast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Expose the forecast horizon and interval.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population, selection and missing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Proxy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when a measure stands in for the real outcome.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Freshness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Display the last refresh date and reporting period.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A2 · 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Accessible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Reduce marks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Aggregate to the level required for the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Descriptive 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titles and captions that explain what the view shows.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Non-colour cues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colour with shape, label or position.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Reading order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Arrange dashboard objects in a logical keyboard and screen-reader sequence.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Diagnose Service Trends and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Analyse a customer-support operation to distinguish sustained trend, weekly seasonality and unusual service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trend view, distribution view and annotated exception view with a defensible operational insight.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Analytics pane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Diagnose Service Trends and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final view distinguishes trend, seasonality and exceptions and does not claim causation from correlation.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Map Delivery Performance Across Singapore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geocoded delivery records to find where late deliveries and high order value overlap across Singapore planning areas.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proportional-symbol map, ranked companion chart and geographic insight with a stated data-quality caveat.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Map Delivery Performance Across Singapore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map and ranking agree on the highest-priority planning areas and the caveat prevents over-precise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Drawing Insights from Visualisation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Question first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A2 · K2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Develop Dashboards and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Dashboard architecture · layout · context · story points · narrative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Develop Dashboards and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Dashboard purpose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primary decision and a small set of supporting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Information hierarchy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Place the decisive message first, then explanation and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Layout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containers, alignment, whitespace and predictable reading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Expose period, scope, definitions, filter state and data freshness.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Story points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Sequence views or dashboards so each point advances the argument.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 marks, heavy filters and redundant views so interaction stays responsive.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purpose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decision: A dashboard is strongest when it serves one primary decision.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Supporting questions: Each view answers a question needed to make that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Audience: Detail and interaction match role and literacy.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Success: Define what a user should know or do after using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development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Clarify stakeholder questions, metrics and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Sketch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Plan hierarchy, layout and interaction before polishing.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Create validated worksheets and assemble containers.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Information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 — Decision headline and a small KPI strip.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Middle — Trend, comparison and driver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Bottom — Detail, definitions, notes and supporting exploration.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Emphasis — One dominant message per screen.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Fixed versus automatic 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Predictable layout for a known presentation or device size.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Flexible within a defined minimum and maximum.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Adapts to container but may reflow unpredictably.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for the consumption environment, not the authoring monitor.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Tiled and floating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Tiled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Reliable alignment, resizing and reading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Floating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Useful for deliberate overlays and precise emphasis.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floating objects create collisions across sizes.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containers and a spacing system before manual 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KPI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Value: Current result with unit and period.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Comparison: Target, prior period or benchmark.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Direction: Change with meaningful sign and threshold.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Definition or tooltip for ambiguous metrics.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Relevant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Expose only filters that change a real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Apply to selected worksheets or all using the source deliberately.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Show what is selected in titles or context 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 a view as a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— The selected mark or view controls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 — Only relevant views update.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Clearing — Choose show all, exclude all or keep filtered values intentionally.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— Verify single, multi-select and clear behaviour.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Highlight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Emphasise related marks without removing the 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Preserves the comparison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Hover, select or menu changes the interaction feel.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Good for cross-view relationship and presentation dialogue.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URL and navigation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URL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 approved detail, documentation or record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Navigation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to another dashboard or story 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Safety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Construct links from trusted fields and test missing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Affordance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Make the clickable area and destination clear.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Question: Use tooltip content to answer the likely next question.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Order: Lead with label and decisive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Format: Keep units, decimals and dates consistent.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Viz in Tooltip: Use sparingly; hidden complexity can slow and distract.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Tableau Story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Story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view, dashboard or text point in a narrative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Summarises the takeaway and advances the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Filters and annotations can be saved per 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Story sequencing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big — Lead with portfolio or executive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Drill down — Move from segment to driver to record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Highlight outlier — Explain why one exception matters.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Answer the question — Close with decision, owner, trigger and next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Reduce unnecessary marks and high-cardinality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Avoid many expensive quick filters and broad context filters.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Calculations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Prefer efficient logic and governed aggregations.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Measure load and interaction on the actual publication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A3 · 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 quality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Numbers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Reconcile totals and definitions to source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Interaction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Test source, target, trigger and clear state for every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Visual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hierarchy, clipping, contrast and reading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Stakeholder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Confirm the dashboard answers the key questions without analyst narration.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Assemble an Omnichannel Executive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Build a fixed-size executive dashboard that connects KPI, trend, channel and store evidence for an omnichannel retailer.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1366 x 768 dashboard with KPI strip, revenue trend, channel comparison, store drill-down and visible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Dashboard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Assemble an Omnichannel Executive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dashboard answers the executive question in under 30 seconds and exposes period, filters, definitions and freshness.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 Branch Turnaround Tableau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Sequence dashboards into a Tableau Story that moves from portfolio context to branch diagnosis and an accountable turnaround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four-point Tableau Story with captions, annotations, saved filter states and a clear call to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Story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 Branch Turnaround Tableau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Each story point advances the argument, the filter state is intentional, and the last point names an owner and next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Develop Dashboards and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Dashboard purpose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A3 · K3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Present and Review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Stakeholder narrative · presentation · SME review · evidence 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Present and Review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Executive opening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Lead with the decision, impact and confidence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ladder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from KPI to trend, driver, segment and record-level detail.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Interaction discipline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filters to answer likely questions without losing the narrative.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SME review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data facts, analytical interpretation and domain judgement.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Revision log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Record what changed, why, who reviewed it and which evidence supports 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Accessibility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descriptive titles, sufficient contrast, limited marks and non-colour cues.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Present for the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Open: State the decision, impact and timing.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Evidence: Show only the views required to support the claim.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Implication: Translate the pattern into stakeholder consequence.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Ask: Name the approval, intervention or next evidence required.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Start big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Orient the audience to scale and overall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Show target, peer or prior-period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Materiality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Explain why the issue deserves attention.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Drill down deliberately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Segment — Identify where the aggregate change originates.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Driver — Separate volume, rate, mix and operational mechanism.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— Inspect detail only when it changes confidence or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Return — Reconnect the detail to the original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Highlight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Expected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comparison band or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Mark the exception clearly.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source and definition before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investigation, correction, containment or monitoring.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Show a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Window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 a time range that reveals rather than hides the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Granularity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consistent intervals and enough observations.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Annotation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Mark interventions, events and change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 not imply a forecast or cause that the evidence cannot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Offer analysis, not chart narration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Weak: The blue line goes up.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Stronger: Conversion fell after week 14 while traffic remained stable.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Decision: The evidence supports investigating checkout friction before buying more traffic.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Limitation: Campaign mix changed in the same period, so isolate it next.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Answer the stakeholder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stakeholder's decision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Give a direct answer with confidence.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Cite the decisive view and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Plan for live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Known — Prepare supporting views for likely objections.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Unknown — Say what the current evidence cannot answer.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Explore — Use interaction without abandoning the main thread.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— Record unresolved questions, owner and due date.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Role of the subject-matter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Confirms what the metric means in practice.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Mechanism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Tests whether the proposed explanation is operationally plausible.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Defines materiality, risk and acceptable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Validates feasibility and unintended consequences.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Facts, interpretation and judgement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Fact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value or relationship directly represented in the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Interpretation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Analytical meaning inferred from the 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Judgement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Domain decision about risk, action or priority.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Discipline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Label each layer so disagreement can be resolved precisely.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SME review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Prepare: Share question, definitions, source and draft story.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Review: Test accuracy, completeness, materiality and actionability.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Resolve: Document agreed change and unresolved issue.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Release: Record reviewer, version, date and decision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Review dynamic displays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filters and actions answer actual stakeholder questions?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Can the reviewer see active scope and reset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labels, units and definitions remain stable across views?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Presentation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Sequence — Know the intended path before entering full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Pointer — Direct attention to evidence, not decoration.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Pace — Pause for interpretation and stakeholder questions.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Fallback — Keep a static export or screenshot for unavailable interaction.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Accessible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Language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descriptive titles and plain terms.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Ensure text, marks and controls remain legible.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Redundancy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not rely on colour alone.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Narration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Verbally explain the decisive pattern and filter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A4 · A6 · 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Revision and release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title, calculation, filter, data or conclusion changed?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Reason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review finding required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Reviewer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 approved the definition or interpretation?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Impact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Did the recommended decision change?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Present a Hospital Flow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Present a patient-flow dashboard to clinical and operations stakeholders, then capture questions and decisions without over-claiming clinical causation.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stakeholder-ready dashboard, five-minute presentation script and question/evidence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Presentation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Present a Hospital Flow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presentation answers the operations question, identifies a limitation and records unresolved SME questions for follow-up.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SME Review and Evidence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Review a sustainability dashboard with finance and facilities SMEs, reconcile definition differences and release a traceable revision.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reviewed dashboard, metric-definition register, decision log and v2 release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Review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SME Review and Evidence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material claim has a definition, evidence source and reviewer; the change log distinguishes correction from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Present and Review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Executive opening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· A4 · K4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Create Interactive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Calculated fields · parameters · filters · actions · navigation · 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Create Interactive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Calculated fields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governed measures and business logic when source fields are insufficient.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Parameters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Expose a controlled value that can drive calculations, filters or reference 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actions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selected mark in one view to constrain another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Highlight actions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Preserve context while emphasizing related marks.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URL and navigation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 the dashboard to detail, definitions or another analytical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Experience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Make state, affordance, reset and next action visible to the user.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Calculated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Purpose: Create missing business logic from available fields.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Components: Functions, fields, operators, literals and parameters.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Aggregation: Keep row-level and aggregate logic consistent.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Governance: Name, comment, format and test calculations.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Types of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Row-level or aggregate expressions evaluated with the query.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Computed on the marks returned to the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Controls the dimensional level used for an aggregate.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Profit and profit ratio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Profit — SUM([Sales]) - SUM([Cost]).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Ratio — SUM([Profit]) / SUM([Sales]), not AVG of row ratios.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Zero — Define behaviour when the denominator is zero.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 — Use currency for profit and percentage for ratio.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workbook-global placeholder selected by the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Expose a list, range or all-values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Drive calculations, filters, reference lines or bins.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parameter is not automatically connected to data until logic uses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Metric selector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Parameter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Revenue, Profit or Profit Ratio.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Calculation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CASE selects the measure.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Title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Display the selected metric in the view title.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Account for different units or use separate formatted 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Threshold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Parameter: Manager-selected discount or risk threshold.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Calculation: Classify marks relative to the threshold.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Reference: Show the selected threshold visually.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Decision: Explain what crossing the threshold triggers.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selected mark or dashboard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One or more related 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All fields or explicit source-target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Highlight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context — Non-selected marks remain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Relationship — Emphasise matching category, customer or geography.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Trigger — Hover supports discovery; select supports deliberate focus.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Accessibility — Add label or shape so colour is not the only cue.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URL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Destination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Approved product page, evidence record or definition.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Field insertion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the URL from encoded, trusted field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null and malformed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Never expose restricted identifiers through a public link.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Parameter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Direct manipulation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Selecting a mark writes a value to a parameter.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Use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Reference line, selected metric, comparison target or scenario.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State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Show the parameter value visibly.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Reset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 a predictable default or reset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Set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Membership: Interaction changes which members belong to a set.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Use: Cohort comparison, proportional brushing and dynamic grouping.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In-set and out-of-set marks remain comparable.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Complexity: Explain the interaction; hidden set logic can confuse users.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Navigation and dynamic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Move between summary and detail dashboards.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Show / hide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Reveal optional controls or explanations without permanent clutter.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Maintain clear location, selection and next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Interactive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Geography — Validate roles or use supplied latitude and longitude.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Layers — Separate context, performance and selection intentionally.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Drill — Country to region to city only when hierarchy and data grain support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Companion — Pair the map with a ranking for accurate comparison.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Interaction quality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Discoverability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a first-time user tell what is interactive?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Does the dashboard visibly respond to the action?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the user undo or reset?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similar controls behave the same way?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A5 · K5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Capstone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74519"/>
          <a:ext cx="6537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1874519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956815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Validated relationships across sales, targets and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862071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944367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Views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KPI, trend, map, category and product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849623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931919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Actions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Filter, highlight and navigation with visible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837175"/>
            <a:ext cx="3794760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4919471"/>
            <a:ext cx="3310128" cy="6400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Story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Context, risk, driver and decision reviewed by an SME.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Parameter-Driven Pricing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an interactive pricing view where managers can switch metrics, set a discount threshold and inspect product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dashboard with metric parameter, discount threshold, dynamic title, parameter action and reset guidance.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Parameters · Calculations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9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a Parameter-Driven Pricing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user can switch the metric, change the threshold, select a product and reset the view without editing a worksheet.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Deliver an Interactive Regional Story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Deliver a decision-ready interactive story for a regional retailer using calculations, map, dashboard actions, story points and SME review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packaged Tableau workbook with executive dashboard, geographic drill-down, interactive story and signed review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Tableau Public/Desktop · Excel · Maps · Actions · 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Deliver an Interactive Regional Story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packaged workbook opens with embedded data; interactions work; the story answers the decision; and A1–A6 evidence is traceable.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Create Interactive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Calculated fields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LO5 · A5 · K5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Evidence, Assessment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Utilise Tableau for data visualisation.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trends and patterns from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dashboards and stories for data storytelling.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 stories to stakeholders and review them with subject-matter experts.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Design interactive visualisations for data storytelling.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slide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Guide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Individual lab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WA question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PP question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Submit completed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current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Contact the trainer or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99632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open-ended knowledge questions,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connected Tableau tasks using the supplied Excel data, 90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assessment digital attendance before starting.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only your own completed question papers and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SSG QR code before the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Training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AM and PM records for both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Minimum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Ask for help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submission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02412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0241280" cy="1600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Turn evidence into a decision people can act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6696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Frame the question, reveal the pattern, explain the implication and let interaction serve the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Storytelling with Tableau · TGS-2020505550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6199632"/>
            <a:ext cx="996696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pic>
        <p:nvPicPr>
          <p:cNvPr id="29" name="Picture 28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814" y="1595628"/>
            <a:ext cx="7986066" cy="397306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77240" y="5650992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